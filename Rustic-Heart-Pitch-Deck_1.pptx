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C4A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5C4A3A"/>
                </a:solidFill>
                <a:latin typeface="Calibri"/>
              </a:rPr>
              <a:t>Illustrative revenue by engine ($k)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Farmstand</c:v>
                </c:pt>
              </c:strCache>
            </c:strRef>
          </c:tx>
          <c:spPr>
            <a:solidFill>
              <a:srgbClr val="5C4A3A"/>
            </a:solidFill>
            <a:effectLst/>
          </c:spPr>
          <c:invertIfNegative val="0"/>
          <c:dLbls>
            <c:numFmt formatCode="\$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A6B5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66</c:v>
                </c:pt>
                <c:pt idx="2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88-E443-8A8E-BE049AC3F2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Licensing + web</c:v>
                </c:pt>
              </c:strCache>
            </c:strRef>
          </c:tx>
          <c:spPr>
            <a:solidFill>
              <a:srgbClr val="B8533A"/>
            </a:solidFill>
            <a:effectLst/>
          </c:spPr>
          <c:invertIfNegative val="0"/>
          <c:dLbls>
            <c:numFmt formatCode="\$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A6B5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</c:v>
                </c:pt>
                <c:pt idx="1">
                  <c:v>76</c:v>
                </c:pt>
                <c:pt idx="2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88-E443-8A8E-BE049AC3F2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B5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2CE"/>
              </a:solidFill>
              <a:prstDash val="solid"/>
              <a:round/>
            </a:ln>
          </c:spPr>
        </c:majorGridlines>
        <c:numFmt formatCode="\$#0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5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A6B5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02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4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bb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34072" y="0"/>
            <a:ext cx="47548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685800"/>
            <a:ext cx="566928" cy="56692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icons/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" y="833201"/>
            <a:ext cx="272125" cy="272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17320" y="6858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RUSTIC HEART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85800" y="187452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0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Homemade food.
Proven recipes.
</a:t>
            </a:r>
            <a:r>
              <a:rPr lang="en-US" sz="4000" i="1" dirty="0">
                <a:solidFill>
                  <a:srgbClr val="D4A0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business in a box.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685800" y="4617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Rustic Heart pairs a working farmstand with a licensing arm that sells home cooks the recipes, playbook, and web presence to skip years of trial and error.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5800" y="5806440"/>
            <a:ext cx="1828800" cy="0"/>
          </a:xfrm>
          <a:prstGeom prst="line">
            <a:avLst/>
          </a:prstGeom>
          <a:noFill/>
          <a:ln w="25400">
            <a:solidFill>
              <a:srgbClr val="B85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85800" y="59436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Debbie Crick  ·  Founder  ·  Cornville, Arizona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62362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A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pitch deck  ·  July 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bb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685800"/>
            <a:ext cx="4480560" cy="5486400"/>
          </a:xfrm>
          <a:prstGeom prst="rect">
            <a:avLst/>
          </a:prstGeom>
          <a:effectLst>
            <a:outerShdw blurRad="152400" dist="50800" dir="5400000" algn="bl" rotWithShape="0">
              <a:srgbClr val="5C4A3A">
                <a:alpha val="3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62356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23560" y="10972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Debbie Crick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623560" y="19659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Debbie built The Rustic Heart Farmstand on Cornville Road, Arizona — a roadside stand selling pies, cakes, cookies, jams, preserves, farm eggs, and jar mixes, all made from scratch. Open Thursday through Saturday, it has become a proven local business with sell-out products and a recognizable brand.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23560" y="35204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 she solved every problem a home food business faces: which recipes sell, how to price them, how to comply with cottage-food rules, how to present a stand, and how to keep customers coming back.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623560" y="4892040"/>
            <a:ext cx="5852160" cy="1280160"/>
          </a:xfrm>
          <a:prstGeom prst="roundRect">
            <a:avLst>
              <a:gd name="adj" fmla="val 5714"/>
            </a:avLst>
          </a:prstGeom>
          <a:solidFill>
            <a:srgbClr val="F0E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79592" y="5248656"/>
            <a:ext cx="566928" cy="56692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993" y="5396057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50292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“That hard-won know-how is the product. Rustic Heart sells the food — and licenses everything I learned making it.”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Great home cooks fail as businesses — not as cooks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658368" cy="65836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76" y="232001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0939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trial and error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245973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producers burn seasons testing recipes, prices, packaging, and venues before anything reliably sells.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3520440"/>
            <a:ext cx="658368" cy="65836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excla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76" y="3691616"/>
            <a:ext cx="316017" cy="3160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4655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playbook exists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00200" y="383133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Cottage-food rules, labeling, costing, and display know-how are scattered — most learn by expensive mistakes.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85800" y="4892040"/>
            <a:ext cx="658368" cy="65836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6" y="5063216"/>
            <a:ext cx="316017" cy="31601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8371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online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520293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 food businesses never get a real web presence, so discovery stops at the end of their street.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7635240" y="2103120"/>
            <a:ext cx="3867912" cy="3977640"/>
          </a:xfrm>
          <a:prstGeom prst="roundRect">
            <a:avLst>
              <a:gd name="adj" fmla="val 2364"/>
            </a:avLst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800100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COTTAGE-FOOD BUSINESS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8001000" y="28803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$2,000</a:t>
            </a:r>
            <a:endParaRPr lang="en-US" sz="3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annual sales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D4A04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$500</a:t>
            </a:r>
            <a:endParaRPr lang="en-US" sz="3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annual profit</a:t>
            </a:r>
            <a:endParaRPr lang="en-US" sz="3400" dirty="0"/>
          </a:p>
          <a:p>
            <a:pPr marL="0" indent="0">
              <a:buNone/>
            </a:pPr>
            <a:r>
              <a:rPr lang="en-US" sz="34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 hrs/week</a:t>
            </a:r>
            <a:endParaRPr lang="en-US" sz="3400" dirty="0"/>
          </a:p>
          <a:p>
            <a:pPr marL="0" indent="0">
              <a:buNone/>
            </a:pPr>
            <a:r>
              <a:rPr lang="en-US" sz="1150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time invested for that return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8001000" y="5687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89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for Justice survey of 775 cottage-food producers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market is opening up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FAF3E7"/>
          </a:solidFill>
          <a:ln w="12700">
            <a:solidFill>
              <a:srgbClr val="F0E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624328"/>
            <a:ext cx="658368" cy="65836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ga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96" y="2795504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134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F3D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34 states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874520" y="28620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created or expanded homemade-food laws since 2015 — a nationwide deregulation wave.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057400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FAF3E7"/>
          </a:solidFill>
          <a:ln w="12700">
            <a:solidFill>
              <a:srgbClr val="F0E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2624328"/>
            <a:ext cx="658368" cy="65836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416" y="2795504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3134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F3D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sales cap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406640" y="286207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Arizona: free registration, no permit fees, no kitchen inspection, and expanded wholesale under HB 2509.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85800" y="4023360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FAF3E7"/>
          </a:solidFill>
          <a:ln w="12700">
            <a:solidFill>
              <a:srgbClr val="F0E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590288"/>
            <a:ext cx="658368" cy="65836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296" y="4761464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279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F3D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1,400+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874520" y="482803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cottage-food businesses formed in Texas in the first year after legalization; 1,200+ in California.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285232" cy="1783080"/>
          </a:xfrm>
          <a:prstGeom prst="roundRect">
            <a:avLst>
              <a:gd name="adj" fmla="val 4103"/>
            </a:avLst>
          </a:prstGeom>
          <a:solidFill>
            <a:srgbClr val="FAF3E7"/>
          </a:solidFill>
          <a:ln w="12700">
            <a:solidFill>
              <a:srgbClr val="F0E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92240" y="4590288"/>
            <a:ext cx="658368" cy="65836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fem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416" y="476146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F3D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49%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7406640" y="482803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U.S. business owners in 2023 were women (up from 29% in 2019) — the core cottage-food demographic.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Institute for Justice; Food Business Pros 50-state survey; Arizona Dept. of Health Services / HB 2509.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brand, two engines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5285232" cy="3291840"/>
          </a:xfrm>
          <a:prstGeom prst="roundRect">
            <a:avLst>
              <a:gd name="adj" fmla="val 2778"/>
            </a:avLst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377440"/>
            <a:ext cx="731520" cy="731520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55" y="25676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FARMSTAND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659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Sell the food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34290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Thu–Sat on Cornville Road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differentiated products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kitchen for every new recipe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and brand proof today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2011680"/>
            <a:ext cx="5285232" cy="3291840"/>
          </a:xfrm>
          <a:prstGeom prst="roundRect">
            <a:avLst>
              <a:gd name="adj" fmla="val 2778"/>
            </a:avLst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2377440"/>
            <a:ext cx="731520" cy="731520"/>
          </a:xfrm>
          <a:prstGeom prst="ellipse">
            <a:avLst/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256763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3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LICENSE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49808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Sell the know-how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83680" y="34290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proven recipes to home cooks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guidance that skips years of trial and error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web domain + ready-built website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FB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High-margin, scalable revenue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85800" y="5623560"/>
            <a:ext cx="10817352" cy="777240"/>
          </a:xfrm>
          <a:prstGeom prst="roundRect">
            <a:avLst>
              <a:gd name="adj" fmla="val 9412"/>
            </a:avLst>
          </a:prstGeom>
          <a:solidFill>
            <a:srgbClr val="F0E6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60120" y="5623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flywheel:  </a:t>
            </a:r>
            <a:r>
              <a:rPr lang="en-US" sz="1400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farmstand proves what sells — every license ships recipes the stand has already perfected in front of paying customers.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license that skips the years of trial and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456432" cy="3977640"/>
          </a:xfrm>
          <a:prstGeom prst="roundRect">
            <a:avLst>
              <a:gd name="adj" fmla="val 2646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685800" cy="685800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25100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74520" y="2651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Recipe Library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05840" y="329184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recipe collection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costing + sourcing notes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and shelf-life guidance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2011680"/>
            <a:ext cx="3456432" cy="3977640"/>
          </a:xfrm>
          <a:prstGeom prst="roundRect">
            <a:avLst>
              <a:gd name="adj" fmla="val 2646"/>
            </a:avLst>
          </a:prstGeom>
          <a:solidFill>
            <a:srgbClr val="F0E6D2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81728" y="2331720"/>
            <a:ext cx="685800" cy="685800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6" y="25100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550408" y="2651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Recipes + Playbook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81728" y="329184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packaging, and labeling guides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Cottage-food compliance walkthrough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setup, sampling, and mentoring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37576" y="2011680"/>
            <a:ext cx="3456432" cy="3977640"/>
          </a:xfrm>
          <a:prstGeom prst="roundRect">
            <a:avLst>
              <a:gd name="adj" fmla="val 2646"/>
            </a:avLst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57616" y="2331720"/>
            <a:ext cx="685800" cy="685800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5924" y="251002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26296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TURNKEY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9226296" y="26517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 in a Box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8357616" y="3291840"/>
            <a:ext cx="2880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Signature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web domain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Ready-built brand website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menu templates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85800" y="6217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start:  </a:t>
            </a:r>
            <a:r>
              <a:rPr lang="en-US" sz="12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complete Rustic Heart website concepts are already designed — the web package ships from day one.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ways Rustic Heart earns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081735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DE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12264"/>
            <a:ext cx="530352" cy="530352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92" y="2250156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Farmstand retail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434840" y="2011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Pies, cakes, preserves, eggs, coffee, jar mixes sold Thu–Sat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464040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· today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" y="2852928"/>
            <a:ext cx="10817352" cy="731520"/>
          </a:xfrm>
          <a:prstGeom prst="roundRect">
            <a:avLst>
              <a:gd name="adj" fmla="val 7500"/>
            </a:avLst>
          </a:prstGeom>
          <a:solidFill>
            <a:srgbClr val="FAF3E7"/>
          </a:solidFill>
          <a:ln w="9525">
            <a:solidFill>
              <a:srgbClr val="EDE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914400" y="2953512"/>
            <a:ext cx="530352" cy="530352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92" y="3091404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85292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fees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34840" y="28529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per home cook joining a tier (Starter / Signature / Turnkey)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464040" y="285292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· high margin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" y="3694176"/>
            <a:ext cx="1081735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DE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14400" y="3794760"/>
            <a:ext cx="530352" cy="530352"/>
          </a:xfrm>
          <a:prstGeom prst="ellipse">
            <a:avLst/>
          </a:prstGeom>
          <a:solidFill>
            <a:srgbClr val="8B9D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92" y="393265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69417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renewals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434840" y="369417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renewal for updated recipes, seasonal menus, and continued support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9464040" y="369417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· compounding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" y="4535424"/>
            <a:ext cx="10817352" cy="731520"/>
          </a:xfrm>
          <a:prstGeom prst="roundRect">
            <a:avLst>
              <a:gd name="adj" fmla="val 7500"/>
            </a:avLst>
          </a:prstGeom>
          <a:solidFill>
            <a:srgbClr val="FAF3E7"/>
          </a:solidFill>
          <a:ln w="9525">
            <a:solidFill>
              <a:srgbClr val="EDE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14400" y="4636008"/>
            <a:ext cx="530352" cy="530352"/>
          </a:xfrm>
          <a:prstGeom prst="ellipse">
            <a:avLst/>
          </a:prstGeom>
          <a:solidFill>
            <a:srgbClr val="8B9D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s/lap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292" y="4773900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453542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packages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434840" y="45354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site build, plus modest annual hosting and upkeep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464040" y="453542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+ recurring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85800" y="5376672"/>
            <a:ext cx="1081735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DE2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914400" y="5477256"/>
            <a:ext cx="530352" cy="530352"/>
          </a:xfrm>
          <a:prstGeom prst="ellipse">
            <a:avLst/>
          </a:prstGeom>
          <a:solidFill>
            <a:srgbClr val="D4A0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icons/gif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292" y="5615148"/>
            <a:ext cx="254569" cy="25456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91640" y="53766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&amp; kits (future)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4434840" y="53766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Jar-mix kits and branded goods supplied to licensees and local retailers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464040" y="53766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upside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two engines could look like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assumptions for discussion only — to be replaced with actual farmstand figures and validated license pricing.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4480560" cy="3977640"/>
          </a:xfrm>
          <a:prstGeom prst="roundRect">
            <a:avLst>
              <a:gd name="adj" fmla="val 2299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(ILLUSTRATIVE)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/ Signature / Turnkey pricing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136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 / $4,500 / $7,500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3685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renewal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9410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per licensee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5840" y="4489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Licensees signed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7457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1: 6 · Yr 2: 15 · Yr 3: 28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05840" y="5294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Farmstand gross (est.)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5550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$60k, growing ~10%/yr</a:t>
            </a:r>
            <a:endParaRPr lang="en-US" sz="14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532120" y="2194560"/>
          <a:ext cx="59893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4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bbi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2062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92040" y="731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892040" y="10515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flagship already works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892040" y="2148840"/>
            <a:ext cx="621792" cy="621792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icons/r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706" y="2310506"/>
            <a:ext cx="298460" cy="298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0" y="2103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now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760720" y="243230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Thursday–Saturday on Cornville Road, with regulars and roadside traffic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892040" y="3264408"/>
            <a:ext cx="621792" cy="621792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s/eg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706" y="3426074"/>
            <a:ext cx="298460" cy="298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60720" y="32186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Sell-out demand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5760720" y="35478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eggs routinely sell out; samples convert passers-by into customers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892040" y="4379976"/>
            <a:ext cx="621792" cy="621792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icons/st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3706" y="4541642"/>
            <a:ext cx="298460" cy="298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60720" y="433425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goods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760720" y="4663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Gluten-free carrot cake, Lemon Buttermilk pie, $22 local-roast coffee, soup &amp; salad jar mixes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892040" y="5495544"/>
            <a:ext cx="621792" cy="621792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icons/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706" y="5657210"/>
            <a:ext cx="298460" cy="298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60720" y="544982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already built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5760720" y="57790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voice, and two complete website concepts designed and ready to deploy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Home kitchens have scaled before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640080" cy="640080"/>
          </a:xfrm>
          <a:prstGeom prst="ellipse">
            <a:avLst/>
          </a:prstGeom>
          <a:solidFill>
            <a:srgbClr val="8B9D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61" y="24981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Nothing Bundt Cakes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in a Las Vegas home kitchen (1997)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05840" y="41605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into 500+ bakeries across North America on the strength of a tight, proven product line.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201168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81728" y="2331720"/>
            <a:ext cx="640080" cy="640080"/>
          </a:xfrm>
          <a:prstGeom prst="ellipse">
            <a:avLst/>
          </a:prstGeom>
          <a:solidFill>
            <a:srgbClr val="8B9D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149" y="24981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Auntie Anne’s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81728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at a Pennsylvania farmers-market stand (1988)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681728" y="41605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perfected pretzel recipe became a global franchise with thousands of locations.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37576" y="2011680"/>
            <a:ext cx="3456432" cy="3200400"/>
          </a:xfrm>
          <a:prstGeom prst="roundRect">
            <a:avLst>
              <a:gd name="adj" fmla="val 2857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57616" y="2331720"/>
            <a:ext cx="640080" cy="640080"/>
          </a:xfrm>
          <a:prstGeom prst="ellipse">
            <a:avLst/>
          </a:prstGeom>
          <a:solidFill>
            <a:srgbClr val="8B9D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utens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4981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7616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Mrs. Fields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57616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home chocolate-chip cookie recipe (1977)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57616" y="41605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pivoted to a licensing-driven model — proof that the recipe and brand, not the storefronts, carry the value.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5800" y="5532120"/>
            <a:ext cx="10817352" cy="868680"/>
          </a:xfrm>
          <a:prstGeom prst="roundRect">
            <a:avLst>
              <a:gd name="adj" fmla="val 8421"/>
            </a:avLst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960120" y="55321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Rustic Heart twist:  </a:t>
            </a:r>
            <a:r>
              <a:rPr lang="en-US" sz="135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$250k+ franchises, license the recipes and playbook at a price a home cook can actually afford — and grow with a thousand small kitchens.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one stand to a thousand kitchens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456432" cy="4023360"/>
          </a:xfrm>
          <a:prstGeom prst="roundRect">
            <a:avLst>
              <a:gd name="adj" fmla="val 2646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640080" cy="640080"/>
          </a:xfrm>
          <a:prstGeom prst="ellipse">
            <a:avLst/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Formalize the 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6 MONTHS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recipes, costing, and the playbook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Rustic Heart brand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license agreements with counsel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flagship revenue growing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2011680"/>
            <a:ext cx="3456432" cy="4023360"/>
          </a:xfrm>
          <a:prstGeom prst="roundRect">
            <a:avLst>
              <a:gd name="adj" fmla="val 2646"/>
            </a:avLst>
          </a:prstGeom>
          <a:solidFill>
            <a:srgbClr val="F0E6D2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81728" y="2331720"/>
            <a:ext cx="640080" cy="640080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8172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04688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Pilot licensees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0468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18 MONTHS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81728" y="33375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3–5 pilot home cooks in Arizona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Turnkey web package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support + renewal model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testimonials and results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37576" y="2011680"/>
            <a:ext cx="3456432" cy="4023360"/>
          </a:xfrm>
          <a:prstGeom prst="roundRect">
            <a:avLst>
              <a:gd name="adj" fmla="val 2646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57616" y="2331720"/>
            <a:ext cx="640080" cy="640080"/>
          </a:xfrm>
          <a:prstGeom prst="ellipse">
            <a:avLst/>
          </a:prstGeom>
          <a:solidFill>
            <a:srgbClr val="8B9D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5761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80576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Expand the table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0576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57616" y="333756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across food-freedom states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Licensee community and seasonal menus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jar-mix and kit line</a:t>
            </a:r>
            <a:endParaRPr lang="en-US" sz="125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regional farmstand partners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B8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OPEN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C4A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Risks and how the structure answers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566928" cy="566928"/>
          </a:xfrm>
          <a:prstGeom prst="ellipse">
            <a:avLst/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21" y="24791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951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vs. franchise line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679192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trademark license + significant assistance + a fee can legally be a franchise under the FTC Franchise Rule, triggering FDD disclosure. Structure the license deliberately with counsel — or comply as a low-cost franchise.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205740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2331720"/>
            <a:ext cx="566928" cy="566928"/>
          </a:xfrm>
          <a:prstGeom prst="ellipse">
            <a:avLst/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24791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951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are weak IP alone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269480" y="2679192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per se are not copyrightable. Value is protected by bundling: trade-secret playbook, trademarked brand, ongoing support, and renewals.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5800" y="411480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389120"/>
            <a:ext cx="566928" cy="566928"/>
          </a:xfrm>
          <a:prstGeom prst="ellipse">
            <a:avLst/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g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521" y="45365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52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Cottage-food rules vary by state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37360" y="4736592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is highly favorable; other states cap revenue or venues. Licensee eligibility must be screened state-by-state as the map expands.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285232" cy="1874520"/>
          </a:xfrm>
          <a:prstGeom prst="roundRect">
            <a:avLst>
              <a:gd name="adj" fmla="val 3902"/>
            </a:avLst>
          </a:prstGeom>
          <a:solidFill>
            <a:srgbClr val="FAF3E7"/>
          </a:solidFill>
          <a:ln w="12700">
            <a:solidFill>
              <a:srgbClr val="E0D3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92240" y="4389120"/>
            <a:ext cx="566928" cy="566928"/>
          </a:xfrm>
          <a:prstGeom prst="ellipse">
            <a:avLst/>
          </a:prstGeom>
          <a:solidFill>
            <a:srgbClr val="5C4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excla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641" y="453652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352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F3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&amp; liability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4736592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3D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Licensees are independent businesses — agreements must require training and insurance, and disclaim any agency relationship with Rustic Heart.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business summary — not legal advice. Licensing structure to be confirmed with franchise counsel.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4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31520"/>
            <a:ext cx="566928" cy="56692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" y="8789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3152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RUSTIC HEART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AF3E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Let’s set a bigger table.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" y="283464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4E3E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60120" y="3108960"/>
            <a:ext cx="566928" cy="56692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521" y="3256361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pricing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60120" y="41879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10 prospective home-cook licensees on tier pricing and demand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447288" y="283464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4E3E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721608" y="3108960"/>
            <a:ext cx="566928" cy="56692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sca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009" y="32563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21608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counsel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721608" y="41879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Franchise/licensing attorney to structure the license the right way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08776" y="283464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4E3E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483096" y="3108960"/>
            <a:ext cx="566928" cy="56692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497" y="3256361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83096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IP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83096" y="41879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documenting recipes, costing, and the operating playbook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970264" y="2834640"/>
            <a:ext cx="2578608" cy="2286000"/>
          </a:xfrm>
          <a:prstGeom prst="roundRect">
            <a:avLst>
              <a:gd name="adj" fmla="val 4000"/>
            </a:avLst>
          </a:prstGeom>
          <a:solidFill>
            <a:srgbClr val="4E3E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244584" y="3108960"/>
            <a:ext cx="566928" cy="566928"/>
          </a:xfrm>
          <a:prstGeom prst="ellipse">
            <a:avLst/>
          </a:prstGeom>
          <a:solidFill>
            <a:srgbClr val="B853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1985" y="3256361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44584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4A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244584" y="418795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actual farmstand financials into this deck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9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ask — funding amount or partnership terms — to be added once financials are final ]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5074920" y="6035040"/>
            <a:ext cx="2011680" cy="0"/>
          </a:xfrm>
          <a:prstGeom prst="line">
            <a:avLst/>
          </a:prstGeom>
          <a:noFill/>
          <a:ln w="25400">
            <a:solidFill>
              <a:srgbClr val="B85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AF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Debbie Crick  ·  Rustic Heart  ·  Cornville, Arizona  ·  Homemade with love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be052a4-cf60-4d13-8a83-d3941eb1e3ee}" enabled="1" method="Standard" siteId="{df46f062-ad2c-4076-88e6-c675c789a0d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1331</Words>
  <Application>Microsoft Macintosh PowerPoint</Application>
  <PresentationFormat>Widescreen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Williams, Clark</cp:lastModifiedBy>
  <cp:revision>1</cp:revision>
  <cp:lastPrinted>2026-07-28T22:43:40Z</cp:lastPrinted>
  <dcterms:created xsi:type="dcterms:W3CDTF">2026-07-28T21:55:38Z</dcterms:created>
  <dcterms:modified xsi:type="dcterms:W3CDTF">2026-07-28T22:45:13Z</dcterms:modified>
</cp:coreProperties>
</file>